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00d11b8bee41fe" /><Relationship Type="http://schemas.openxmlformats.org/officeDocument/2006/relationships/extended-properties" Target="/docProps/app.xml" Id="R2a7e23e8636d4a33" /><Relationship Type="http://schemas.openxmlformats.org/officeDocument/2006/relationships/officeDocument" Target="/ppt/presentation.xml" Id="R212bae7b00c340da" /></Relationships>
</file>

<file path=ppt/presentation.xml><?xml version="1.0" encoding="utf-8"?>
<p:presentation xmlns:p="http://schemas.openxmlformats.org/presentationml/2006/main">
  <p:sldMasterIdLst>
    <p:sldMasterId xmlns:r="http://schemas.openxmlformats.org/officeDocument/2006/relationships" id="2147483648" r:id="Rb26db93231944b47"/>
  </p:sldMasterIdLst>
  <p:notesMasterIdLst>
    <p:notesMasterId xmlns:r="http://schemas.openxmlformats.org/officeDocument/2006/relationships" r:id="R3000427246374570"/>
  </p:notesMasterIdLst>
  <p:sldIdLst>
    <p:sldId xmlns:r="http://schemas.openxmlformats.org/officeDocument/2006/relationships" id="256" r:id="R34af816b5e794661"/>
    <p:sldId xmlns:r="http://schemas.openxmlformats.org/officeDocument/2006/relationships" id="257" r:id="Rbe87e2e522ef4df1"/>
    <p:sldId xmlns:r="http://schemas.openxmlformats.org/officeDocument/2006/relationships" id="258" r:id="Rcb7cc627177147d4"/>
    <p:sldId xmlns:r="http://schemas.openxmlformats.org/officeDocument/2006/relationships" id="259" r:id="Rfd5e5af1c58c46e2"/>
    <p:sldId xmlns:r="http://schemas.openxmlformats.org/officeDocument/2006/relationships" id="260" r:id="R09c962e7cbda4399"/>
    <p:sldId xmlns:r="http://schemas.openxmlformats.org/officeDocument/2006/relationships" id="261" r:id="R766c99b43b004bb3"/>
    <p:sldId xmlns:r="http://schemas.openxmlformats.org/officeDocument/2006/relationships" id="262" r:id="R911fb4dca8004e2e"/>
    <p:sldId xmlns:r="http://schemas.openxmlformats.org/officeDocument/2006/relationships" id="263" r:id="Red6bbf76354d4061"/>
    <p:sldId xmlns:r="http://schemas.openxmlformats.org/officeDocument/2006/relationships" id="264" r:id="Ra6ea30b5dcb047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87a617a3f84b92" /><Relationship Type="http://schemas.openxmlformats.org/officeDocument/2006/relationships/slideMaster" Target="/ppt/slideMasters/slideMaster1.xml" Id="Rb26db93231944b47" /><Relationship Type="http://schemas.openxmlformats.org/officeDocument/2006/relationships/notesMaster" Target="/ppt/notesMasters/notesMaster1.xml" Id="R3000427246374570" /><Relationship Type="http://schemas.openxmlformats.org/officeDocument/2006/relationships/presProps" Target="/ppt/presProps.xml" Id="R614b15c066b44b88" /><Relationship Type="http://schemas.openxmlformats.org/officeDocument/2006/relationships/tableStyles" Target="/ppt/tableStyles.xml" Id="Rb3cdd5a79b7147b7" /><Relationship Type="http://schemas.openxmlformats.org/officeDocument/2006/relationships/slide" Target="/ppt/slides/slide1.xml" Id="R34af816b5e794661" /><Relationship Type="http://schemas.openxmlformats.org/officeDocument/2006/relationships/slide" Target="/ppt/slides/slide2.xml" Id="Rbe87e2e522ef4df1" /><Relationship Type="http://schemas.openxmlformats.org/officeDocument/2006/relationships/slide" Target="/ppt/slides/slide3.xml" Id="Rcb7cc627177147d4" /><Relationship Type="http://schemas.openxmlformats.org/officeDocument/2006/relationships/slide" Target="/ppt/slides/slide4.xml" Id="Rfd5e5af1c58c46e2" /><Relationship Type="http://schemas.openxmlformats.org/officeDocument/2006/relationships/slide" Target="/ppt/slides/slide5.xml" Id="R09c962e7cbda4399" /><Relationship Type="http://schemas.openxmlformats.org/officeDocument/2006/relationships/slide" Target="/ppt/slides/slide6.xml" Id="R766c99b43b004bb3" /><Relationship Type="http://schemas.openxmlformats.org/officeDocument/2006/relationships/slide" Target="/ppt/slides/slide7.xml" Id="R911fb4dca8004e2e" /><Relationship Type="http://schemas.openxmlformats.org/officeDocument/2006/relationships/slide" Target="/ppt/slides/slide8.xml" Id="Red6bbf76354d4061" /><Relationship Type="http://schemas.openxmlformats.org/officeDocument/2006/relationships/slide" Target="/ppt/slides/slide9.xml" Id="Ra6ea30b5dcb047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1aa2dcd5d747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e7cd2bbd2549df" /><Relationship Type="http://schemas.openxmlformats.org/officeDocument/2006/relationships/notesMaster" Target="/ppt/notesMasters/notesMaster1.xml" Id="Rf5aa304290e145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0764486c2f4e08" /><Relationship Type="http://schemas.openxmlformats.org/officeDocument/2006/relationships/notesMaster" Target="/ppt/notesMasters/notesMaster1.xml" Id="R41a0ba1f31b048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d69be845da49d5" /><Relationship Type="http://schemas.openxmlformats.org/officeDocument/2006/relationships/notesMaster" Target="/ppt/notesMasters/notesMaster1.xml" Id="Re138c651657a48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6c4e706f39466f" /><Relationship Type="http://schemas.openxmlformats.org/officeDocument/2006/relationships/notesMaster" Target="/ppt/notesMasters/notesMaster1.xml" Id="R01a855249cfb4a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7ad914d4da4394" /><Relationship Type="http://schemas.openxmlformats.org/officeDocument/2006/relationships/notesMaster" Target="/ppt/notesMasters/notesMaster1.xml" Id="R2d6960ae36f84b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7adcbf16c449ef" /><Relationship Type="http://schemas.openxmlformats.org/officeDocument/2006/relationships/notesMaster" Target="/ppt/notesMasters/notesMaster1.xml" Id="R4c30e5f8d4014c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bc591c67394d6e" /><Relationship Type="http://schemas.openxmlformats.org/officeDocument/2006/relationships/notesMaster" Target="/ppt/notesMasters/notesMaster1.xml" Id="R26a8dffe2e3547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217d80eefc403f" /><Relationship Type="http://schemas.openxmlformats.org/officeDocument/2006/relationships/notesMaster" Target="/ppt/notesMasters/notesMaster1.xml" Id="R67b35144ef0f4e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2890fccbff4289" /><Relationship Type="http://schemas.openxmlformats.org/officeDocument/2006/relationships/notesMaster" Target="/ppt/notesMasters/notesMaster1.xml" Id="Rb2d26b238c4548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optional interview presentation for the refrigerated-shipment risk exercise. The assignment asks for a local engine, not a UI or slides. These materials support the discussion and are separate from the assessed implementation.</a:t>
            </a:r>
          </a:p>
          <a:p xmlns:a="http://schemas.openxmlformats.org/drawingml/2006/main">
            <a:r>
              <a:t>Source: README.md, DECISIONS.md, demo/style.css.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example from notebooks 02–04 and the UI lesson. The original measurement is 8°C at 9 AM, available at 9:05. The correction is 5°C and arrives at noon. At 11 AM we must still use 8°C. Receipt controls availability. Device time defines measurement age and the lookback. Duplicates with the same event/revision add no measurements. At noon the 9 AM point sits on the open left edge of the three-hour window, so it may supply latest temperature but not window summaries. Historical reconstruction also depends on retaining the relevant records.</a:t>
            </a:r>
          </a:p>
          <a:p xmlns:a="http://schemas.openxmlformats.org/drawingml/2006/main">
            <a:r>
              <a:t>Sources: notebooks/02_duplicates_and_revisions.ipynb, src/dispatch_risk/features.py, demo/server.py.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feature engineering before model weights. Features are deterministic descriptions of available telemetry. Latest temperature can be outside the lookback and is flagged stale after three hours. Mean weights observations equally. Trend uses least squares over actual elapsed hours and needs two distinct times. All raw numeric features feed a fitted imputer and nine missing indicators. Logistic regression also uses training-fitted scaling. The engine rejects measurements ahead of their receipt time without reviving a superseded revision. Door, compressor and location events are not model features in this version.</a:t>
            </a:r>
          </a:p>
          <a:p xmlns:a="http://schemas.openxmlformats.org/drawingml/2006/main">
            <a:r>
              <a:t>Sources: src/dispatch_risk/features.py, src/dispatch_risk/training.py.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Monday 11 AM decision has a horizon ending Monday 5 PM. The 48-hour grace makes the row eligible Wednesday 5 PM. Apply the gate to both classes and restrict reports to the relevant label cutoff. Absence of a report becomes an assumed negative only for a mature row. Split shipments by their first decision timestamp, approximately 60/20/20, and keep a shipment in one group. The builder currently omits immature checkpoints and records counts. The interface has no observation cutoff, so max decision time supplies an explicit assumption. This is a contract concern to discuss, not certified audit coverage.</a:t>
            </a:r>
          </a:p>
          <a:p xmlns:a="http://schemas.openxmlformats.org/drawingml/2006/main">
            <a:r>
              <a:t>Sources: src/dispatch_risk/training.py, outputs/notebook_results/split_policy.json, 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comparison used 1,026 training rows and 306 validation rows with 21 incidents. Each candidate fit its preprocessing on the same training partition. The rule required improvement on constant AP and Brier, then selected the simplest candidate within 0.002 Brier of the best eligible score. Simplicity order was logistic, shallow tree, forest, boosting. Boosting had higher AP, while logistic had lower Brier and won the declared rule. This is an engineering preference, not a statistical significance claim. We did not pick again after seeing test results.</a:t>
            </a:r>
          </a:p>
          <a:p xmlns:a="http://schemas.openxmlformats.org/drawingml/2006/main">
            <a:r>
              <a:t>Source: outputs/notebook_results/validation_selection.json.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selection, refit logistic regression on 1,386 mature development rows at test start. Held-out evaluation has 309 checkpoints from 104 shipments and 25 positives. AP is a ranking measure. Brier and log loss assess probability error, but Brier alone does not certify calibration. At the illustrative 20% threshold there are 24 TP, 0 FP and 1 FN, giving recall 0.96 and precision 1.0. Constant test AP is 0.080906 and Brier 0.074380. Source, freshness and trend-availability slices exist in the report. The coast-source slice has 14 incidents and Brier about 0.00992, illustrating that pooled scores hide variation. Small synthetic data and assumed negatives limit generalization.</a:t>
            </a:r>
          </a:p>
          <a:p xmlns:a="http://schemas.openxmlformats.org/drawingml/2006/main">
            <a:r>
              <a:t>Sources: outputs/final_model/evaluation.json, notebooks/13_final_evaluation_and_model_artifact.ipynb.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uses at most max_shipments shipment records and at most 128 revision records per shipment, plus a bounded event-ID index. Each event is limited to 16 KiB. This bounds structures, not exact process RSS. Eviction removes shipment history and its identity entries. History loss produces degraded reasons. Duplicate recognition cannot extend across eviction without unbounded tombstones. A single RLock protects scoring and state transitions. Reload validates a candidate before swapping the immutable model. Failure keeps the old model, and initial load failure raises. Snapshots capture LRU order, records, counters and model version before atomic file replacement. Restore requires the same model version.</a:t>
            </a:r>
          </a:p>
          <a:p xmlns:a="http://schemas.openxmlformats.org/drawingml/2006/main">
            <a:r>
              <a:t>Evidence: 27 tests passed after the UI addition. The core replay audit is in outputs/final_model/verification.json, which records 20 tests at that earlier stage. A different stream had 12,881 deliveries and respected capacity 32.</a:t>
            </a:r>
          </a:p>
          <a:p xmlns:a="http://schemas.openxmlformats.org/drawingml/2006/main">
            <a:r>
              <a:t>Sources: src/dispatch_risk/engine.py, tests/test_engine.py, tests/test_demo.py, MY_LEARNINGS.md checkpoint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priorities, not completed upgrades. First, align the builder with the requested per-decision row contract. The current binary TrainingRow cannot honestly represent an unknown outcome, and omitting immature rows is a documented interpretation. An explicit observation cutoff and a separate censored-result record would make the contract clearer if the interface can be extended. Until then, retain disclosure and focused tests rather than relabel unknowns as zero. Second, benchmark hot-shipment scoring, snapshot pause duration, concurrent reload latency and actual RSS. Third, validate on audited real data across multiple time periods, check calibration and choose thresholds based on incident cost and response capacity. Additional hardening includes snapshot byte limits and extreme-input cases. Python 3.11 is declared but only 3.14 was tested here.</a:t>
            </a:r>
          </a:p>
          <a:p xmlns:a="http://schemas.openxmlformats.org/drawingml/2006/main">
            <a:r>
              <a:t>Sources: README.md, DECISIONS.md, src/dispatch_risk/training.py, src/dispatch_risk/engine.py, outputs/final_model/verification.json.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local UI before the presentation. Run PYTHONPATH=src .venv/bin/python -m demo.server if necessary. Start in The late correction with capacity two, shipment-A, 11 AM and follow-time unchecked. The first click is a duplicate. The second is the noon correction. Show unchanged digest and prediction at 11 AM, then score at noon. Show feature boundaries as needed. Save before stepping into eviction, then restore and read the byte-identity message. Try invalid reload and show that the score remains unchanged. Each tab has independent playback. If the browser is unavailable use RUNBOOK.md and the CLI. Ask the panel which requirement they would like to change.</a:t>
            </a:r>
          </a:p>
          <a:p xmlns:a="http://schemas.openxmlformats.org/drawingml/2006/main">
            <a:r>
              <a:t>Sources: demo/README.md, demo/server.py, 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2e40eeeb8342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45bf8e98184a53" /><Relationship Type="http://schemas.openxmlformats.org/officeDocument/2006/relationships/slideLayout" Target="/ppt/slideLayouts/slideLayout1.xml" Id="R2cbaa4e46fce40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baa4e46fce40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0f7160b9714f8e" /><Relationship Type="http://schemas.openxmlformats.org/officeDocument/2006/relationships/notesSlide" Target="/ppt/notesSlides/notesSlide1.xml" Id="Rfbabcdc6dafa4a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1b4ecb77d14746" /><Relationship Type="http://schemas.openxmlformats.org/officeDocument/2006/relationships/notesSlide" Target="/ppt/notesSlides/notesSlide2.xml" Id="R32b820e8dd144f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803cb93d7948aa" /><Relationship Type="http://schemas.openxmlformats.org/officeDocument/2006/relationships/notesSlide" Target="/ppt/notesSlides/notesSlide3.xml" Id="R68fc4a33fe1a4a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71522984474a2e" /><Relationship Type="http://schemas.openxmlformats.org/officeDocument/2006/relationships/notesSlide" Target="/ppt/notesSlides/notesSlide4.xml" Id="R02ba3de9639140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4aa1c0393c439f" /><Relationship Type="http://schemas.openxmlformats.org/officeDocument/2006/relationships/notesSlide" Target="/ppt/notesSlides/notesSlide5.xml" Id="R275a3f6073414b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8e00aca5ad4c0b" /><Relationship Type="http://schemas.openxmlformats.org/officeDocument/2006/relationships/notesSlide" Target="/ppt/notesSlides/notesSlide6.xml" Id="R4d20d5ba785041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22d7aec43647f2" /><Relationship Type="http://schemas.openxmlformats.org/officeDocument/2006/relationships/notesSlide" Target="/ppt/notesSlides/notesSlide7.xml" Id="R6c5308aa4a9148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2dd5f859cd4986" /><Relationship Type="http://schemas.openxmlformats.org/officeDocument/2006/relationships/notesSlide" Target="/ppt/notesSlides/notesSlide8.xml" Id="R328625a9f21b48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2ea776dc18450b" /><Relationship Type="http://schemas.openxmlformats.org/officeDocument/2006/relationships/notesSlide" Target="/ppt/notesSlides/notesSlide9.xml" Id="R05e41788b8264a68" /></Relationships>
</file>

<file path=ppt/slides/slide1.xml><?xml version="1.0" encoding="utf-8"?>
<p:sld xmlns:p="http://schemas.openxmlformats.org/presentationml/2006/main">
  <p:cSld>
    <p:bg>
      <p:bgPr>
        <a:solidFill xmlns:a="http://schemas.openxmlformats.org/drawingml/2006/main">
          <a:srgbClr val="203B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0ACB1E-8D14-4390-BF25-EB480C25A466}"/>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AEB9C"/>
                </a:solidFill>
                <a:latin typeface="Arial"/>
                <a:ea typeface="Arial"/>
                <a:cs typeface="Arial"/>
              </a:defRPr>
            </a:pPr>
            <a:r>
              <a:rPr sz="1200" b="0">
                <a:solidFill>
                  <a:srgbClr val="DAEB9C"/>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949FA2A9-3BCB-421A-B01E-D75DCC5AF9E4}"/>
              </a:ext>
            </a:extLst>
          </p:cNvPr>
          <p:cNvSpPr>
            <a:spLocks xmlns:a="http://schemas.openxmlformats.org/drawingml/2006/main" noGrp="1"/>
          </p:cNvSpPr>
          <p:nvPr/>
        </p:nvSpPr>
        <p:spPr>
          <a:xfrm xmlns:a="http://schemas.openxmlformats.org/drawingml/2006/main">
            <a:off x="723900" y="76200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AEB9C"/>
                </a:solidFill>
                <a:latin typeface="Arial"/>
                <a:ea typeface="Arial"/>
                <a:cs typeface="Arial"/>
              </a:defRPr>
            </a:pPr>
            <a:r>
              <a:rPr sz="1725" b="0">
                <a:solidFill>
                  <a:srgbClr val="DAEB9C"/>
                </a:solidFill>
                <a:latin typeface="Arial"/>
                <a:ea typeface="Arial"/>
                <a:cs typeface="Arial"/>
              </a:rPr>
              <a:t>SHIPMENT RISK LAB</a:t>
            </a:r>
          </a:p>
        </p:txBody>
      </p:sp>
      <p:sp>
        <p:nvSpPr>
          <p:cNvPr id="3" name="">
            <a:extLst xmlns:a="http://schemas.openxmlformats.org/drawingml/2006/main">
              <a:ext uri="{FF2B5EF4-FFF2-40B4-BE49-F238E27FC236}">
                <a16:creationId xmlns:a16="http://schemas.microsoft.com/office/drawing/2014/main" id="{CB318772-998B-4BB6-A6C4-306A209DD20B}"/>
              </a:ext>
            </a:extLst>
          </p:cNvPr>
          <p:cNvSpPr>
            <a:spLocks xmlns:a="http://schemas.openxmlformats.org/drawingml/2006/main" noGrp="1"/>
          </p:cNvSpPr>
          <p:nvPr/>
        </p:nvSpPr>
        <p:spPr>
          <a:xfrm xmlns:a="http://schemas.openxmlformats.org/drawingml/2006/main">
            <a:off x="666750" y="1952625"/>
            <a:ext cx="1028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Georgia"/>
                <a:ea typeface="Georgia"/>
                <a:cs typeface="Georgia"/>
              </a:defRPr>
            </a:pPr>
            <a:r>
              <a:rPr sz="6150" b="0">
                <a:solidFill>
                  <a:srgbClr val="FFFFFF"/>
                </a:solidFill>
                <a:latin typeface="Georgia"/>
                <a:ea typeface="Georgia"/>
                <a:cs typeface="Georgia"/>
              </a:rPr>
              <a:t>Risk at the</a:t>
            </a:r>
          </a:p>
          <a:p xmlns:a="http://schemas.openxmlformats.org/drawingml/2006/main">
            <a:pPr>
              <a:defRPr sz="6150" b="0">
                <a:solidFill>
                  <a:srgbClr val="FFFFFF"/>
                </a:solidFill>
                <a:latin typeface="Georgia"/>
                <a:ea typeface="Georgia"/>
                <a:cs typeface="Georgia"/>
              </a:defRPr>
            </a:pPr>
            <a:r>
              <a:rPr sz="6150" b="0">
                <a:solidFill>
                  <a:srgbClr val="FFFFFF"/>
                </a:solidFill>
                <a:latin typeface="Georgia"/>
                <a:ea typeface="Georgia"/>
                <a:cs typeface="Georgia"/>
              </a:rPr>
              <a:t>decision time</a:t>
            </a:r>
          </a:p>
        </p:txBody>
      </p:sp>
      <p:sp>
        <p:nvSpPr>
          <p:cNvPr id="4" name="">
            <a:extLst xmlns:a="http://schemas.openxmlformats.org/drawingml/2006/main">
              <a:ext uri="{FF2B5EF4-FFF2-40B4-BE49-F238E27FC236}">
                <a16:creationId xmlns:a16="http://schemas.microsoft.com/office/drawing/2014/main" id="{620FE867-297E-4BA3-899F-5A9789CECEA6}"/>
              </a:ext>
            </a:extLst>
          </p:cNvPr>
          <p:cNvSpPr>
            <a:spLocks xmlns:a="http://schemas.openxmlformats.org/drawingml/2006/main" noGrp="1"/>
          </p:cNvSpPr>
          <p:nvPr/>
        </p:nvSpPr>
        <p:spPr>
          <a:xfrm xmlns:a="http://schemas.openxmlformats.org/drawingml/2006/main">
            <a:off x="723900" y="4400550"/>
            <a:ext cx="971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six-hour incident forecast using the information available then</a:t>
            </a:r>
          </a:p>
        </p:txBody>
      </p:sp>
      <p:sp>
        <p:nvSpPr>
          <p:cNvPr id="5" name="">
            <a:extLst xmlns:a="http://schemas.openxmlformats.org/drawingml/2006/main">
              <a:ext uri="{FF2B5EF4-FFF2-40B4-BE49-F238E27FC236}">
                <a16:creationId xmlns:a16="http://schemas.microsoft.com/office/drawing/2014/main" id="{02F8B0AC-E56A-4398-94B2-6C14F43FA558}"/>
              </a:ext>
            </a:extLst>
          </p:cNvPr>
          <p:cNvSpPr>
            <a:spLocks xmlns:a="http://schemas.openxmlformats.org/drawingml/2006/main" noGrp="1"/>
          </p:cNvSpPr>
          <p:nvPr/>
        </p:nvSpPr>
        <p:spPr>
          <a:xfrm xmlns:a="http://schemas.openxmlformats.org/drawingml/2006/main">
            <a:off x="723900" y="58293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AEB9C"/>
                </a:solidFill>
                <a:latin typeface="Arial"/>
                <a:ea typeface="Arial"/>
                <a:cs typeface="Arial"/>
              </a:defRPr>
            </a:pPr>
            <a:r>
              <a:rPr sz="1800" b="0">
                <a:solidFill>
                  <a:srgbClr val="DAEB9C"/>
                </a:solidFill>
                <a:latin typeface="Arial"/>
                <a:ea typeface="Arial"/>
                <a:cs typeface="Arial"/>
              </a:rPr>
              <a:t>Tirth Shah</a:t>
            </a:r>
          </a:p>
        </p:txBody>
      </p:sp>
    </p:spTree>
    <p:extLst>
      <p:ext uri="{BB962C8B-B14F-4D97-AF65-F5344CB8AC3E}">
        <p14:creationId xmlns:p14="http://schemas.microsoft.com/office/powerpoint/2010/main" val="838000697"/>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45391D-BAED-4F0A-AA13-41ED0239FC15}"/>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A late correction cannot rewrite earlier knowledge</a:t>
            </a:r>
          </a:p>
        </p:txBody>
      </p:sp>
      <p:sp>
        <p:nvSpPr>
          <p:cNvPr id="2" name="">
            <a:extLst xmlns:a="http://schemas.openxmlformats.org/drawingml/2006/main">
              <a:ext uri="{FF2B5EF4-FFF2-40B4-BE49-F238E27FC236}">
                <a16:creationId xmlns:a16="http://schemas.microsoft.com/office/drawing/2014/main" id="{B29C5F50-1B57-4F96-8FDA-771586DD28D7}"/>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732FC85-2068-4234-84F4-5BA13783F9AD}"/>
              </a:ext>
            </a:extLst>
          </p:cNvPr>
          <p:cNvSpPr>
            <a:spLocks xmlns:a="http://schemas.openxmlformats.org/drawingml/2006/main" noGrp="1"/>
          </p:cNvSpPr>
          <p:nvPr/>
        </p:nvSpPr>
        <p:spPr>
          <a:xfrm xmlns:a="http://schemas.openxmlformats.org/drawingml/2006/main">
            <a:off x="666750" y="15525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57372"/>
                </a:solidFill>
                <a:latin typeface="Arial"/>
                <a:ea typeface="Arial"/>
                <a:cs typeface="Arial"/>
              </a:defRPr>
            </a:pPr>
            <a:r>
              <a:rPr sz="2025" b="0">
                <a:solidFill>
                  <a:srgbClr val="657372"/>
                </a:solidFill>
                <a:latin typeface="Arial"/>
                <a:ea typeface="Arial"/>
                <a:cs typeface="Arial"/>
              </a:rPr>
              <a:t>One reading, two revisions</a:t>
            </a:r>
          </a:p>
        </p:txBody>
      </p:sp>
      <p:graphicFrame>
        <p:nvGraphicFramePr>
          <p:cNvPr id="9" name=""/>
          <p:cNvGraphicFramePr/>
          <p:nvPr/>
        </p:nvGraphicFramePr>
        <p:xfrm>
          <a:off xmlns:a="http://schemas.openxmlformats.org/drawingml/2006/main" x="666750" y="2190750"/>
          <a:ext xmlns:a="http://schemas.openxmlformats.org/drawingml/2006/main" cx="10858500" cy="2324100"/>
        </p:xfrm>
        <a:graphic xmlns:a="http://schemas.openxmlformats.org/drawingml/2006/main">
          <a:graphicData uri="http://schemas.openxmlformats.org/drawingml/2006/table">
            <a:tbl>
              <a:tblPr/>
              <a:tblGrid>
                <a:gridCol w="2857500"/>
                <a:gridCol w="2762250"/>
                <a:gridCol w="5238750"/>
              </a:tblGrid>
              <a:tr h="581025">
                <a:tc>
                  <a:txBody>
                    <a:bodyPr>
                      <a:noAutofit/>
                    </a:bodyPr>
                    <a:lstStyle/>
                    <a:p>
                      <a:r>
                        <a:rPr sz="1800" b="1">
                          <a:solidFill>
                            <a:srgbClr val="FFFFFF"/>
                          </a:solidFill>
                          <a:latin typeface="Arial"/>
                          <a:ea typeface="Arial"/>
                          <a:cs typeface="Arial"/>
                        </a:rPr>
                        <a:t>Prediction time</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Available value</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Reason</a:t>
                      </a:r>
                    </a:p>
                  </a:txBody>
                  <a:tcPr marL="91440" marR="91440" marT="45720" marB="45720">
                    <a:solidFill>
                      <a:srgbClr val="203B33"/>
                    </a:solidFill>
                  </a:tcPr>
                </a:tc>
              </a:tr>
              <a:tr h="581025">
                <a:tc>
                  <a:txBody>
                    <a:bodyPr>
                      <a:noAutofit/>
                    </a:bodyPr>
                    <a:lstStyle/>
                    <a:p>
                      <a:r>
                        <a:rPr sz="1800" b="0">
                          <a:solidFill>
                            <a:srgbClr val="222B2B"/>
                          </a:solidFill>
                          <a:latin typeface="Arial"/>
                          <a:ea typeface="Arial"/>
                          <a:cs typeface="Arial"/>
                        </a:rPr>
                        <a:t>09:00</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No reading</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Receipt is at 09:05</a:t>
                      </a:r>
                    </a:p>
                  </a:txBody>
                  <a:tcPr marL="91440" marR="91440" marT="45720" marB="45720">
                    <a:solidFill>
                      <a:srgbClr val="FFFFFF"/>
                    </a:solidFill>
                  </a:tcPr>
                </a:tc>
              </a:tr>
              <a:tr h="581025">
                <a:tc>
                  <a:txBody>
                    <a:bodyPr>
                      <a:noAutofit/>
                    </a:bodyPr>
                    <a:lstStyle/>
                    <a:p>
                      <a:r>
                        <a:rPr sz="1800" b="1">
                          <a:solidFill>
                            <a:srgbClr val="222B2B"/>
                          </a:solidFill>
                          <a:latin typeface="Arial"/>
                          <a:ea typeface="Arial"/>
                          <a:cs typeface="Arial"/>
                        </a:rPr>
                        <a:t>11:00</a:t>
                      </a:r>
                    </a:p>
                  </a:txBody>
                  <a:tcPr marL="91440" marR="91440" marT="45720" marB="45720">
                    <a:solidFill>
                      <a:srgbClr val="E8EEDC"/>
                    </a:solidFill>
                  </a:tcPr>
                </a:tc>
                <a:tc>
                  <a:txBody>
                    <a:bodyPr>
                      <a:noAutofit/>
                    </a:bodyPr>
                    <a:lstStyle/>
                    <a:p>
                      <a:r>
                        <a:rPr sz="1800" b="1">
                          <a:solidFill>
                            <a:srgbClr val="222B2B"/>
                          </a:solidFill>
                          <a:latin typeface="Arial"/>
                          <a:ea typeface="Arial"/>
                          <a:cs typeface="Arial"/>
                        </a:rPr>
                        <a:t>8°C</a:t>
                      </a:r>
                    </a:p>
                  </a:txBody>
                  <a:tcPr marL="91440" marR="91440" marT="45720" marB="45720">
                    <a:solidFill>
                      <a:srgbClr val="E8EEDC"/>
                    </a:solidFill>
                  </a:tcPr>
                </a:tc>
                <a:tc>
                  <a:txBody>
                    <a:bodyPr>
                      <a:noAutofit/>
                    </a:bodyPr>
                    <a:lstStyle/>
                    <a:p>
                      <a:r>
                        <a:rPr sz="1800" b="1">
                          <a:solidFill>
                            <a:srgbClr val="222B2B"/>
                          </a:solidFill>
                          <a:latin typeface="Arial"/>
                          <a:ea typeface="Arial"/>
                          <a:cs typeface="Arial"/>
                        </a:rPr>
                        <a:t>Correction has not arrived</a:t>
                      </a:r>
                    </a:p>
                  </a:txBody>
                  <a:tcPr marL="91440" marR="91440" marT="45720" marB="45720">
                    <a:solidFill>
                      <a:srgbClr val="E8EEDC"/>
                    </a:solidFill>
                  </a:tcPr>
                </a:tc>
              </a:tr>
              <a:tr h="581025">
                <a:tc>
                  <a:txBody>
                    <a:bodyPr>
                      <a:noAutofit/>
                    </a:bodyPr>
                    <a:lstStyle/>
                    <a:p>
                      <a:r>
                        <a:rPr sz="1800" b="0">
                          <a:solidFill>
                            <a:srgbClr val="222B2B"/>
                          </a:solidFill>
                          <a:latin typeface="Arial"/>
                          <a:ea typeface="Arial"/>
                          <a:cs typeface="Arial"/>
                        </a:rPr>
                        <a:t>12:00</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5°C</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Correction is now available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00D94C3-1AAE-4FFF-852D-CA3A08F56F5E}"/>
              </a:ext>
            </a:extLst>
          </p:cNvPr>
          <p:cNvSpPr>
            <a:spLocks xmlns:a="http://schemas.openxmlformats.org/drawingml/2006/main" noGrp="1"/>
          </p:cNvSpPr>
          <p:nvPr/>
        </p:nvSpPr>
        <p:spPr>
          <a:xfrm xmlns:a="http://schemas.openxmlformats.org/drawingml/2006/main">
            <a:off x="666750" y="5238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3B33"/>
                </a:solidFill>
                <a:latin typeface="Arial"/>
                <a:ea typeface="Arial"/>
                <a:cs typeface="Arial"/>
              </a:defRPr>
            </a:pPr>
            <a:r>
              <a:rPr sz="1800" b="0">
                <a:solidFill>
                  <a:srgbClr val="203B33"/>
                </a:solidFill>
                <a:latin typeface="Arial"/>
                <a:ea typeface="Arial"/>
                <a:cs typeface="Arial"/>
              </a:rPr>
              <a:t>All example times are UTC. Receipt time determines what the platform could know.</a:t>
            </a:r>
          </a:p>
        </p:txBody>
      </p:sp>
    </p:spTree>
    <p:extLst>
      <p:ext uri="{BB962C8B-B14F-4D97-AF65-F5344CB8AC3E}">
        <p14:creationId xmlns:p14="http://schemas.microsoft.com/office/powerpoint/2010/main" val="966121808"/>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8DC734-2CE5-4985-AA74-AAB741D81BE6}"/>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Nine temperature and freshness features</a:t>
            </a:r>
          </a:p>
        </p:txBody>
      </p:sp>
      <p:sp>
        <p:nvSpPr>
          <p:cNvPr id="2" name="">
            <a:extLst xmlns:a="http://schemas.openxmlformats.org/drawingml/2006/main">
              <a:ext uri="{FF2B5EF4-FFF2-40B4-BE49-F238E27FC236}">
                <a16:creationId xmlns:a16="http://schemas.microsoft.com/office/drawing/2014/main" id="{799F0DA4-39D8-495D-9127-FFE7EEA4423E}"/>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2D41BB0-62F4-442D-B7CD-6ABE8FE811A1}"/>
              </a:ext>
            </a:extLst>
          </p:cNvPr>
          <p:cNvSpPr>
            <a:spLocks xmlns:a="http://schemas.openxmlformats.org/drawingml/2006/main" noGrp="1"/>
          </p:cNvSpPr>
          <p:nvPr/>
        </p:nvSpPr>
        <p:spPr>
          <a:xfrm xmlns:a="http://schemas.openxmlformats.org/drawingml/2006/main">
            <a:off x="666750" y="18288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3B33"/>
                </a:solidFill>
                <a:latin typeface="Georgia"/>
                <a:ea typeface="Georgia"/>
                <a:cs typeface="Georgia"/>
              </a:defRPr>
            </a:pPr>
            <a:r>
              <a:rPr sz="2550" b="0">
                <a:solidFill>
                  <a:srgbClr val="203B33"/>
                </a:solidFill>
                <a:latin typeface="Georgia"/>
                <a:ea typeface="Georgia"/>
                <a:cs typeface="Georgia"/>
              </a:rPr>
              <a:t>Current reading</a:t>
            </a:r>
          </a:p>
        </p:txBody>
      </p:sp>
      <p:sp>
        <p:nvSpPr>
          <p:cNvPr id="4" name="">
            <a:extLst xmlns:a="http://schemas.openxmlformats.org/drawingml/2006/main">
              <a:ext uri="{FF2B5EF4-FFF2-40B4-BE49-F238E27FC236}">
                <a16:creationId xmlns:a16="http://schemas.microsoft.com/office/drawing/2014/main" id="{2AC72439-E894-45DA-BB02-507DD24B9282}"/>
              </a:ext>
            </a:extLst>
          </p:cNvPr>
          <p:cNvSpPr>
            <a:spLocks xmlns:a="http://schemas.openxmlformats.org/drawingml/2006/main" noGrp="1"/>
          </p:cNvSpPr>
          <p:nvPr/>
        </p:nvSpPr>
        <p:spPr>
          <a:xfrm xmlns:a="http://schemas.openxmlformats.org/drawingml/2006/main">
            <a:off x="666750" y="2571750"/>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Latest temperature</a:t>
            </a:r>
          </a:p>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Measurement age</a:t>
            </a:r>
          </a:p>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Arrival delay</a:t>
            </a:r>
          </a:p>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Missing-temperature indicator</a:t>
            </a:r>
          </a:p>
        </p:txBody>
      </p:sp>
      <p:sp>
        <p:nvSpPr>
          <p:cNvPr id="5" name="">
            <a:extLst xmlns:a="http://schemas.openxmlformats.org/drawingml/2006/main">
              <a:ext uri="{FF2B5EF4-FFF2-40B4-BE49-F238E27FC236}">
                <a16:creationId xmlns:a16="http://schemas.microsoft.com/office/drawing/2014/main" id="{0794482B-114E-45EC-869D-3E9C039789D7}"/>
              </a:ext>
            </a:extLst>
          </p:cNvPr>
          <p:cNvSpPr>
            <a:spLocks xmlns:a="http://schemas.openxmlformats.org/drawingml/2006/main" noGrp="1"/>
          </p:cNvSpPr>
          <p:nvPr/>
        </p:nvSpPr>
        <p:spPr>
          <a:xfrm xmlns:a="http://schemas.openxmlformats.org/drawingml/2006/main">
            <a:off x="6572250" y="18288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3B33"/>
                </a:solidFill>
                <a:latin typeface="Georgia"/>
                <a:ea typeface="Georgia"/>
                <a:cs typeface="Georgia"/>
              </a:defRPr>
            </a:pPr>
            <a:r>
              <a:rPr sz="2550" b="0">
                <a:solidFill>
                  <a:srgbClr val="203B33"/>
                </a:solidFill>
                <a:latin typeface="Georgia"/>
                <a:ea typeface="Georgia"/>
                <a:cs typeface="Georgia"/>
              </a:rPr>
              <a:t>Three-hour lookback</a:t>
            </a:r>
          </a:p>
        </p:txBody>
      </p:sp>
      <p:sp>
        <p:nvSpPr>
          <p:cNvPr id="6" name="">
            <a:extLst xmlns:a="http://schemas.openxmlformats.org/drawingml/2006/main">
              <a:ext uri="{FF2B5EF4-FFF2-40B4-BE49-F238E27FC236}">
                <a16:creationId xmlns:a16="http://schemas.microsoft.com/office/drawing/2014/main" id="{533CB9D7-DE30-4CAE-98F7-8F65D987E638}"/>
              </a:ext>
            </a:extLst>
          </p:cNvPr>
          <p:cNvSpPr>
            <a:spLocks xmlns:a="http://schemas.openxmlformats.org/drawingml/2006/main" noGrp="1"/>
          </p:cNvSpPr>
          <p:nvPr/>
        </p:nvSpPr>
        <p:spPr>
          <a:xfrm xmlns:a="http://schemas.openxmlformats.org/drawingml/2006/main">
            <a:off x="6572250" y="2571750"/>
            <a:ext cx="4857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Reading count</a:t>
            </a:r>
          </a:p>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Mean and maximum temperature</a:t>
            </a:r>
          </a:p>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Temperature trend</a:t>
            </a:r>
          </a:p>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Observation span</a:t>
            </a:r>
          </a:p>
        </p:txBody>
      </p:sp>
      <p:sp>
        <p:nvSpPr>
          <p:cNvPr id="7" name="">
            <a:extLst xmlns:a="http://schemas.openxmlformats.org/drawingml/2006/main">
              <a:ext uri="{FF2B5EF4-FFF2-40B4-BE49-F238E27FC236}">
                <a16:creationId xmlns:a16="http://schemas.microsoft.com/office/drawing/2014/main" id="{5AA26267-DEC9-4CB4-955E-D9FD5D530AEA}"/>
              </a:ext>
            </a:extLst>
          </p:cNvPr>
          <p:cNvSpPr>
            <a:spLocks xmlns:a="http://schemas.openxmlformats.org/drawingml/2006/main" noGrp="1"/>
          </p:cNvSpPr>
          <p:nvPr/>
        </p:nvSpPr>
        <p:spPr>
          <a:xfrm xmlns:a="http://schemas.openxmlformats.org/drawingml/2006/main">
            <a:off x="66675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372"/>
                </a:solidFill>
                <a:latin typeface="Arial"/>
                <a:ea typeface="Arial"/>
                <a:cs typeface="Arial"/>
              </a:defRPr>
            </a:pPr>
            <a:r>
              <a:rPr sz="1875" b="0">
                <a:solidFill>
                  <a:srgbClr val="657372"/>
                </a:solidFill>
                <a:latin typeface="Arial"/>
                <a:ea typeface="Arial"/>
                <a:cs typeface="Arial"/>
              </a:rPr>
              <a:t>Missing trend means insufficient timing evidence. A measured zero trend means flat readings.</a:t>
            </a:r>
          </a:p>
        </p:txBody>
      </p:sp>
    </p:spTree>
    <p:extLst>
      <p:ext uri="{BB962C8B-B14F-4D97-AF65-F5344CB8AC3E}">
        <p14:creationId xmlns:p14="http://schemas.microsoft.com/office/powerpoint/2010/main" val="1599689133"/>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157DAB-8002-4F00-BAA7-B5A8CD422045}"/>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Training waits for the outcome and its report</a:t>
            </a:r>
          </a:p>
        </p:txBody>
      </p:sp>
      <p:sp>
        <p:nvSpPr>
          <p:cNvPr id="2" name="">
            <a:extLst xmlns:a="http://schemas.openxmlformats.org/drawingml/2006/main">
              <a:ext uri="{FF2B5EF4-FFF2-40B4-BE49-F238E27FC236}">
                <a16:creationId xmlns:a16="http://schemas.microsoft.com/office/drawing/2014/main" id="{DDD7C4BD-CFF9-48C7-8F22-329A45AAEDB9}"/>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353C534-2A88-4644-9A6F-1D14D4ADFD40}"/>
              </a:ext>
            </a:extLst>
          </p:cNvPr>
          <p:cNvSpPr>
            <a:spLocks xmlns:a="http://schemas.openxmlformats.org/drawingml/2006/main" noGrp="1"/>
          </p:cNvSpPr>
          <p:nvPr/>
        </p:nvSpPr>
        <p:spPr>
          <a:xfrm xmlns:a="http://schemas.openxmlformats.org/drawingml/2006/main">
            <a:off x="666750" y="15525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3B33"/>
                </a:solidFill>
                <a:latin typeface="Arial"/>
                <a:ea typeface="Arial"/>
                <a:cs typeface="Arial"/>
              </a:defRPr>
            </a:pPr>
            <a:r>
              <a:rPr sz="2400" b="0">
                <a:solidFill>
                  <a:srgbClr val="203B33"/>
                </a:solidFill>
                <a:latin typeface="Arial"/>
                <a:ea typeface="Arial"/>
                <a:cs typeface="Arial"/>
              </a:rPr>
              <a:t>6 hours of follow-up + 48 hours for reporting</a:t>
            </a:r>
          </a:p>
        </p:txBody>
      </p:sp>
      <p:graphicFrame>
        <p:nvGraphicFramePr>
          <p:cNvPr id="10" name=""/>
          <p:cNvGraphicFramePr/>
          <p:nvPr/>
        </p:nvGraphicFramePr>
        <p:xfrm>
          <a:off xmlns:a="http://schemas.openxmlformats.org/drawingml/2006/main" x="666750" y="2381250"/>
          <a:ext xmlns:a="http://schemas.openxmlformats.org/drawingml/2006/main" cx="10858500" cy="2324100"/>
        </p:xfrm>
        <a:graphic xmlns:a="http://schemas.openxmlformats.org/drawingml/2006/main">
          <a:graphicData uri="http://schemas.openxmlformats.org/drawingml/2006/table">
            <a:tbl>
              <a:tblPr/>
              <a:tblGrid>
                <a:gridCol w="2571750"/>
                <a:gridCol w="4476750"/>
                <a:gridCol w="3810000"/>
              </a:tblGrid>
              <a:tr h="581025">
                <a:tc>
                  <a:txBody>
                    <a:bodyPr>
                      <a:noAutofit/>
                    </a:bodyPr>
                    <a:lstStyle/>
                    <a:p>
                      <a:r>
                        <a:rPr sz="1800" b="1">
                          <a:solidFill>
                            <a:srgbClr val="FFFFFF"/>
                          </a:solidFill>
                          <a:latin typeface="Arial"/>
                          <a:ea typeface="Arial"/>
                          <a:cs typeface="Arial"/>
                        </a:rPr>
                        <a:t>Partition</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Purpose</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Reports available by</a:t>
                      </a:r>
                    </a:p>
                  </a:txBody>
                  <a:tcPr marL="91440" marR="91440" marT="45720" marB="45720">
                    <a:solidFill>
                      <a:srgbClr val="203B33"/>
                    </a:solidFill>
                  </a:tcPr>
                </a:tc>
              </a:tr>
              <a:tr h="581025">
                <a:tc>
                  <a:txBody>
                    <a:bodyPr>
                      <a:noAutofit/>
                    </a:bodyPr>
                    <a:lstStyle/>
                    <a:p>
                      <a:r>
                        <a:rPr sz="1800" b="0">
                          <a:solidFill>
                            <a:srgbClr val="222B2B"/>
                          </a:solidFill>
                          <a:latin typeface="Arial"/>
                          <a:ea typeface="Arial"/>
                          <a:cs typeface="Arial"/>
                        </a:rPr>
                        <a:t>Training</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Fit preprocessing and model</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Validation start</a:t>
                      </a:r>
                    </a:p>
                  </a:txBody>
                  <a:tcPr marL="91440" marR="91440" marT="45720" marB="45720">
                    <a:solidFill>
                      <a:srgbClr val="FFFFFF"/>
                    </a:solidFill>
                  </a:tcPr>
                </a:tc>
              </a:tr>
              <a:tr h="581025">
                <a:tc>
                  <a:txBody>
                    <a:bodyPr>
                      <a:noAutofit/>
                    </a:bodyPr>
                    <a:lstStyle/>
                    <a:p>
                      <a:r>
                        <a:rPr sz="1800" b="0">
                          <a:solidFill>
                            <a:srgbClr val="222B2B"/>
                          </a:solidFill>
                          <a:latin typeface="Arial"/>
                          <a:ea typeface="Arial"/>
                          <a:cs typeface="Arial"/>
                        </a:rPr>
                        <a:t>Validation</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Choose the model</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Test start</a:t>
                      </a:r>
                    </a:p>
                  </a:txBody>
                  <a:tcPr marL="91440" marR="91440" marT="45720" marB="45720">
                    <a:solidFill>
                      <a:srgbClr val="FFFFFF"/>
                    </a:solidFill>
                  </a:tcPr>
                </a:tc>
              </a:tr>
              <a:tr h="581025">
                <a:tc>
                  <a:txBody>
                    <a:bodyPr>
                      <a:noAutofit/>
                    </a:bodyPr>
                    <a:lstStyle/>
                    <a:p>
                      <a:r>
                        <a:rPr sz="1800" b="0">
                          <a:solidFill>
                            <a:srgbClr val="222B2B"/>
                          </a:solidFill>
                          <a:latin typeface="Arial"/>
                          <a:ea typeface="Arial"/>
                          <a:cs typeface="Arial"/>
                        </a:rPr>
                        <a:t>Test</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Evaluate the fixed choice</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Observation cutoff</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2EC5CD1-AAE3-4EB8-8346-E9ED1B8F8243}"/>
              </a:ext>
            </a:extLst>
          </p:cNvPr>
          <p:cNvSpPr>
            <a:spLocks xmlns:a="http://schemas.openxmlformats.org/drawingml/2006/main" noGrp="1"/>
          </p:cNvSpPr>
          <p:nvPr/>
        </p:nvSpPr>
        <p:spPr>
          <a:xfrm xmlns:a="http://schemas.openxmlformats.org/drawingml/2006/main">
            <a:off x="666750" y="5048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22B2B"/>
                </a:solidFill>
                <a:latin typeface="Arial"/>
                <a:ea typeface="Arial"/>
                <a:cs typeface="Arial"/>
              </a:defRPr>
            </a:pPr>
            <a:r>
              <a:rPr sz="1875" b="0">
                <a:solidFill>
                  <a:srgbClr val="222B2B"/>
                </a:solidFill>
                <a:latin typeface="Arial"/>
                <a:ea typeface="Arial"/>
                <a:cs typeface="Arial"/>
              </a:rPr>
              <a:t>Chronological shipment groups keep the same shipment out of both fitting and evaluation.</a:t>
            </a:r>
          </a:p>
        </p:txBody>
      </p:sp>
      <p:sp>
        <p:nvSpPr>
          <p:cNvPr id="6" name="">
            <a:extLst xmlns:a="http://schemas.openxmlformats.org/drawingml/2006/main">
              <a:ext uri="{FF2B5EF4-FFF2-40B4-BE49-F238E27FC236}">
                <a16:creationId xmlns:a16="http://schemas.microsoft.com/office/drawing/2014/main" id="{29D8D41A-1B60-4ABB-9CBB-B7A1D4F937A4}"/>
              </a:ext>
            </a:extLst>
          </p:cNvPr>
          <p:cNvSpPr>
            <a:spLocks xmlns:a="http://schemas.openxmlformats.org/drawingml/2006/main" noGrp="1"/>
          </p:cNvSpPr>
          <p:nvPr/>
        </p:nvSpPr>
        <p:spPr>
          <a:xfrm xmlns:a="http://schemas.openxmlformats.org/drawingml/2006/main">
            <a:off x="666750" y="581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372"/>
                </a:solidFill>
                <a:latin typeface="Arial"/>
                <a:ea typeface="Arial"/>
                <a:cs typeface="Arial"/>
              </a:defRPr>
            </a:pPr>
            <a:r>
              <a:rPr sz="1650" b="0">
                <a:solidFill>
                  <a:srgbClr val="657372"/>
                </a:solidFill>
                <a:latin typeface="Arial"/>
                <a:ea typeface="Arial"/>
                <a:cs typeface="Arial"/>
              </a:rPr>
              <a:t>The 48-hour completeness rule and the observation cutoff remain assumptions.</a:t>
            </a:r>
          </a:p>
        </p:txBody>
      </p:sp>
    </p:spTree>
    <p:extLst>
      <p:ext uri="{BB962C8B-B14F-4D97-AF65-F5344CB8AC3E}">
        <p14:creationId xmlns:p14="http://schemas.microsoft.com/office/powerpoint/2010/main" val="1289307475"/>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C8C8A0-BF00-4F64-9A16-89BF2E879F1F}"/>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Logistic regression met the declared selection rule</a:t>
            </a:r>
          </a:p>
        </p:txBody>
      </p:sp>
      <p:sp>
        <p:nvSpPr>
          <p:cNvPr id="2" name="">
            <a:extLst xmlns:a="http://schemas.openxmlformats.org/drawingml/2006/main">
              <a:ext uri="{FF2B5EF4-FFF2-40B4-BE49-F238E27FC236}">
                <a16:creationId xmlns:a16="http://schemas.microsoft.com/office/drawing/2014/main" id="{917EBF96-490C-4CA6-AA6A-26A562FC03E1}"/>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05</a:t>
            </a:r>
          </a:p>
        </p:txBody>
      </p:sp>
      <p:graphicFrame>
        <p:nvGraphicFramePr>
          <p:cNvPr id="7" name=""/>
          <p:cNvGraphicFramePr/>
          <p:nvPr/>
        </p:nvGraphicFramePr>
        <p:xfrm>
          <a:off xmlns:a="http://schemas.openxmlformats.org/drawingml/2006/main" x="666750" y="1809750"/>
          <a:ext xmlns:a="http://schemas.openxmlformats.org/drawingml/2006/main" cx="10858500" cy="3486150"/>
        </p:xfrm>
        <a:graphic xmlns:a="http://schemas.openxmlformats.org/drawingml/2006/main">
          <a:graphicData uri="http://schemas.openxmlformats.org/drawingml/2006/table">
            <a:tbl>
              <a:tblPr/>
              <a:tblGrid>
                <a:gridCol w="5429250"/>
                <a:gridCol w="2762250"/>
                <a:gridCol w="2667000"/>
              </a:tblGrid>
              <a:tr h="581025">
                <a:tc>
                  <a:txBody>
                    <a:bodyPr>
                      <a:noAutofit/>
                    </a:bodyPr>
                    <a:lstStyle/>
                    <a:p>
                      <a:r>
                        <a:rPr sz="1800" b="1">
                          <a:solidFill>
                            <a:srgbClr val="FFFFFF"/>
                          </a:solidFill>
                          <a:latin typeface="Arial"/>
                          <a:ea typeface="Arial"/>
                          <a:cs typeface="Arial"/>
                        </a:rPr>
                        <a:t>Validation candidate</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Average precision</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Brier score</a:t>
                      </a:r>
                    </a:p>
                  </a:txBody>
                  <a:tcPr marL="91440" marR="91440" marT="45720" marB="45720">
                    <a:solidFill>
                      <a:srgbClr val="203B33"/>
                    </a:solidFill>
                  </a:tcPr>
                </a:tc>
              </a:tr>
              <a:tr h="581025">
                <a:tc>
                  <a:txBody>
                    <a:bodyPr>
                      <a:noAutofit/>
                    </a:bodyPr>
                    <a:lstStyle/>
                    <a:p>
                      <a:r>
                        <a:rPr sz="1800" b="0">
                          <a:solidFill>
                            <a:srgbClr val="222B2B"/>
                          </a:solidFill>
                          <a:latin typeface="Arial"/>
                          <a:ea typeface="Arial"/>
                          <a:cs typeface="Arial"/>
                        </a:rPr>
                        <a:t>Constant baseline</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0.0686</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0.06396</a:t>
                      </a:r>
                    </a:p>
                  </a:txBody>
                  <a:tcPr marL="91440" marR="91440" marT="45720" marB="45720">
                    <a:solidFill>
                      <a:srgbClr val="FFFFFF"/>
                    </a:solidFill>
                  </a:tcPr>
                </a:tc>
              </a:tr>
              <a:tr h="581025">
                <a:tc>
                  <a:txBody>
                    <a:bodyPr>
                      <a:noAutofit/>
                    </a:bodyPr>
                    <a:lstStyle/>
                    <a:p>
                      <a:r>
                        <a:rPr sz="1800" b="1">
                          <a:solidFill>
                            <a:srgbClr val="222B2B"/>
                          </a:solidFill>
                          <a:latin typeface="Arial"/>
                          <a:ea typeface="Arial"/>
                          <a:cs typeface="Arial"/>
                        </a:rPr>
                        <a:t>Logistic regression</a:t>
                      </a:r>
                    </a:p>
                  </a:txBody>
                  <a:tcPr marL="91440" marR="91440" marT="45720" marB="45720">
                    <a:solidFill>
                      <a:srgbClr val="E8EEDC"/>
                    </a:solidFill>
                  </a:tcPr>
                </a:tc>
                <a:tc>
                  <a:txBody>
                    <a:bodyPr>
                      <a:noAutofit/>
                    </a:bodyPr>
                    <a:lstStyle/>
                    <a:p>
                      <a:r>
                        <a:rPr sz="1800" b="1">
                          <a:solidFill>
                            <a:srgbClr val="222B2B"/>
                          </a:solidFill>
                          <a:latin typeface="Arial"/>
                          <a:ea typeface="Arial"/>
                          <a:cs typeface="Arial"/>
                        </a:rPr>
                        <a:t>0.9634</a:t>
                      </a:r>
                    </a:p>
                  </a:txBody>
                  <a:tcPr marL="91440" marR="91440" marT="45720" marB="45720">
                    <a:solidFill>
                      <a:srgbClr val="E8EEDC"/>
                    </a:solidFill>
                  </a:tcPr>
                </a:tc>
                <a:tc>
                  <a:txBody>
                    <a:bodyPr>
                      <a:noAutofit/>
                    </a:bodyPr>
                    <a:lstStyle/>
                    <a:p>
                      <a:r>
                        <a:rPr sz="1800" b="1">
                          <a:solidFill>
                            <a:srgbClr val="222B2B"/>
                          </a:solidFill>
                          <a:latin typeface="Arial"/>
                          <a:ea typeface="Arial"/>
                          <a:cs typeface="Arial"/>
                        </a:rPr>
                        <a:t>0.00533</a:t>
                      </a:r>
                    </a:p>
                  </a:txBody>
                  <a:tcPr marL="91440" marR="91440" marT="45720" marB="45720">
                    <a:solidFill>
                      <a:srgbClr val="E8EEDC"/>
                    </a:solidFill>
                  </a:tcPr>
                </a:tc>
              </a:tr>
              <a:tr h="581025">
                <a:tc>
                  <a:txBody>
                    <a:bodyPr>
                      <a:noAutofit/>
                    </a:bodyPr>
                    <a:lstStyle/>
                    <a:p>
                      <a:r>
                        <a:rPr sz="1800" b="0">
                          <a:solidFill>
                            <a:srgbClr val="222B2B"/>
                          </a:solidFill>
                          <a:latin typeface="Arial"/>
                          <a:ea typeface="Arial"/>
                          <a:cs typeface="Arial"/>
                        </a:rPr>
                        <a:t>Shallow tree</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0.9370</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0.00647</a:t>
                      </a:r>
                    </a:p>
                  </a:txBody>
                  <a:tcPr marL="91440" marR="91440" marT="45720" marB="45720">
                    <a:solidFill>
                      <a:srgbClr val="FFFFFF"/>
                    </a:solidFill>
                  </a:tcPr>
                </a:tc>
              </a:tr>
              <a:tr h="581025">
                <a:tc>
                  <a:txBody>
                    <a:bodyPr>
                      <a:noAutofit/>
                    </a:bodyPr>
                    <a:lstStyle/>
                    <a:p>
                      <a:r>
                        <a:rPr sz="1800" b="0">
                          <a:solidFill>
                            <a:srgbClr val="222B2B"/>
                          </a:solidFill>
                          <a:latin typeface="Arial"/>
                          <a:ea typeface="Arial"/>
                          <a:cs typeface="Arial"/>
                        </a:rPr>
                        <a:t>Random forest</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0.9519</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0.00883</a:t>
                      </a:r>
                    </a:p>
                  </a:txBody>
                  <a:tcPr marL="91440" marR="91440" marT="45720" marB="45720">
                    <a:solidFill>
                      <a:srgbClr val="FFFFFF"/>
                    </a:solidFill>
                  </a:tcPr>
                </a:tc>
              </a:tr>
              <a:tr h="581025">
                <a:tc>
                  <a:txBody>
                    <a:bodyPr>
                      <a:noAutofit/>
                    </a:bodyPr>
                    <a:lstStyle/>
                    <a:p>
                      <a:r>
                        <a:rPr sz="1800" b="0">
                          <a:solidFill>
                            <a:srgbClr val="222B2B"/>
                          </a:solidFill>
                          <a:latin typeface="Arial"/>
                          <a:ea typeface="Arial"/>
                          <a:cs typeface="Arial"/>
                        </a:rPr>
                        <a:t>Gradient boosting</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0.9818</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0.00579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C2BAFFB-B5FD-4FEE-B8AF-953D98ABE690}"/>
              </a:ext>
            </a:extLst>
          </p:cNvPr>
          <p:cNvSpPr>
            <a:spLocks xmlns:a="http://schemas.openxmlformats.org/drawingml/2006/main" noGrp="1"/>
          </p:cNvSpPr>
          <p:nvPr/>
        </p:nvSpPr>
        <p:spPr>
          <a:xfrm xmlns:a="http://schemas.openxmlformats.org/drawingml/2006/main">
            <a:off x="666750" y="5524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3B33"/>
                </a:solidFill>
                <a:latin typeface="Arial"/>
                <a:ea typeface="Arial"/>
                <a:cs typeface="Arial"/>
              </a:defRPr>
            </a:pPr>
            <a:r>
              <a:rPr sz="1800" b="0">
                <a:solidFill>
                  <a:srgbClr val="203B33"/>
                </a:solidFill>
                <a:latin typeface="Arial"/>
                <a:ea typeface="Arial"/>
                <a:cs typeface="Arial"/>
              </a:rPr>
              <a:t>Beat the baseline on both metrics, then choose the simplest within 0.002 of the best Brier score.</a:t>
            </a:r>
          </a:p>
        </p:txBody>
      </p:sp>
    </p:spTree>
    <p:extLst>
      <p:ext uri="{BB962C8B-B14F-4D97-AF65-F5344CB8AC3E}">
        <p14:creationId xmlns:p14="http://schemas.microsoft.com/office/powerpoint/2010/main" val="1866960376"/>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AC9A4B-8AF0-445C-B963-9BEFBB0371E4}"/>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Held-out performance against the baseline</a:t>
            </a:r>
          </a:p>
        </p:txBody>
      </p:sp>
      <p:sp>
        <p:nvSpPr>
          <p:cNvPr id="2" name="">
            <a:extLst xmlns:a="http://schemas.openxmlformats.org/drawingml/2006/main">
              <a:ext uri="{FF2B5EF4-FFF2-40B4-BE49-F238E27FC236}">
                <a16:creationId xmlns:a16="http://schemas.microsoft.com/office/drawing/2014/main" id="{F3C7A1B1-2420-4380-A2E9-5E6060834A06}"/>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2CA33A4-E16E-4074-8E02-B5CDBF71FC20}"/>
              </a:ext>
            </a:extLst>
          </p:cNvPr>
          <p:cNvSpPr>
            <a:spLocks xmlns:a="http://schemas.openxmlformats.org/drawingml/2006/main" noGrp="1"/>
          </p:cNvSpPr>
          <p:nvPr/>
        </p:nvSpPr>
        <p:spPr>
          <a:xfrm xmlns:a="http://schemas.openxmlformats.org/drawingml/2006/main">
            <a:off x="666750" y="1571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57372"/>
                </a:solidFill>
                <a:latin typeface="Arial"/>
                <a:ea typeface="Arial"/>
                <a:cs typeface="Arial"/>
              </a:defRPr>
            </a:pPr>
            <a:r>
              <a:rPr sz="2175" b="0">
                <a:solidFill>
                  <a:srgbClr val="657372"/>
                </a:solidFill>
                <a:latin typeface="Arial"/>
                <a:ea typeface="Arial"/>
                <a:cs typeface="Arial"/>
              </a:rPr>
              <a:t>309 held-out checkpoints with 25 incidents</a:t>
            </a:r>
          </a:p>
        </p:txBody>
      </p:sp>
      <p:graphicFrame>
        <p:nvGraphicFramePr>
          <p:cNvPr id="10" name=""/>
          <p:cNvGraphicFramePr/>
          <p:nvPr/>
        </p:nvGraphicFramePr>
        <p:xfrm>
          <a:off xmlns:a="http://schemas.openxmlformats.org/drawingml/2006/main" x="666750" y="2286000"/>
          <a:ext xmlns:a="http://schemas.openxmlformats.org/drawingml/2006/main" cx="10858500" cy="2324100"/>
        </p:xfrm>
        <a:graphic xmlns:a="http://schemas.openxmlformats.org/drawingml/2006/main">
          <a:graphicData uri="http://schemas.openxmlformats.org/drawingml/2006/table">
            <a:tbl>
              <a:tblPr/>
              <a:tblGrid>
                <a:gridCol w="4953000"/>
                <a:gridCol w="3048000"/>
                <a:gridCol w="2857500"/>
              </a:tblGrid>
              <a:tr h="581025">
                <a:tc>
                  <a:txBody>
                    <a:bodyPr>
                      <a:noAutofit/>
                    </a:bodyPr>
                    <a:lstStyle/>
                    <a:p>
                      <a:r>
                        <a:rPr sz="1800" b="1">
                          <a:solidFill>
                            <a:srgbClr val="FFFFFF"/>
                          </a:solidFill>
                          <a:latin typeface="Arial"/>
                          <a:ea typeface="Arial"/>
                          <a:cs typeface="Arial"/>
                        </a:rPr>
                        <a:t>Test metric</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Logistic regression</a:t>
                      </a:r>
                    </a:p>
                  </a:txBody>
                  <a:tcPr marL="91440" marR="91440" marT="45720" marB="45720">
                    <a:solidFill>
                      <a:srgbClr val="203B33"/>
                    </a:solidFill>
                  </a:tcPr>
                </a:tc>
                <a:tc>
                  <a:txBody>
                    <a:bodyPr>
                      <a:noAutofit/>
                    </a:bodyPr>
                    <a:lstStyle/>
                    <a:p>
                      <a:r>
                        <a:rPr sz="1800" b="1">
                          <a:solidFill>
                            <a:srgbClr val="FFFFFF"/>
                          </a:solidFill>
                          <a:latin typeface="Arial"/>
                          <a:ea typeface="Arial"/>
                          <a:cs typeface="Arial"/>
                        </a:rPr>
                        <a:t>Constant baseline</a:t>
                      </a:r>
                    </a:p>
                  </a:txBody>
                  <a:tcPr marL="91440" marR="91440" marT="45720" marB="45720">
                    <a:solidFill>
                      <a:srgbClr val="203B33"/>
                    </a:solidFill>
                  </a:tcPr>
                </a:tc>
              </a:tr>
              <a:tr h="581025">
                <a:tc>
                  <a:txBody>
                    <a:bodyPr>
                      <a:noAutofit/>
                    </a:bodyPr>
                    <a:lstStyle/>
                    <a:p>
                      <a:r>
                        <a:rPr sz="1800" b="0">
                          <a:solidFill>
                            <a:srgbClr val="222B2B"/>
                          </a:solidFill>
                          <a:latin typeface="Arial"/>
                          <a:ea typeface="Arial"/>
                          <a:cs typeface="Arial"/>
                        </a:rPr>
                        <a:t>Average precision</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0.9813</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0.0809</a:t>
                      </a:r>
                    </a:p>
                  </a:txBody>
                  <a:tcPr marL="91440" marR="91440" marT="45720" marB="45720">
                    <a:solidFill>
                      <a:srgbClr val="FFFFFF"/>
                    </a:solidFill>
                  </a:tcPr>
                </a:tc>
              </a:tr>
              <a:tr h="581025">
                <a:tc>
                  <a:txBody>
                    <a:bodyPr>
                      <a:noAutofit/>
                    </a:bodyPr>
                    <a:lstStyle/>
                    <a:p>
                      <a:r>
                        <a:rPr sz="1800" b="0">
                          <a:solidFill>
                            <a:srgbClr val="222B2B"/>
                          </a:solidFill>
                          <a:latin typeface="Arial"/>
                          <a:ea typeface="Arial"/>
                          <a:cs typeface="Arial"/>
                        </a:rPr>
                        <a:t>Brier score</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0.00376</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0.07438</a:t>
                      </a:r>
                    </a:p>
                  </a:txBody>
                  <a:tcPr marL="91440" marR="91440" marT="45720" marB="45720">
                    <a:solidFill>
                      <a:srgbClr val="FFFFFF"/>
                    </a:solidFill>
                  </a:tcPr>
                </a:tc>
              </a:tr>
              <a:tr h="581025">
                <a:tc>
                  <a:txBody>
                    <a:bodyPr>
                      <a:noAutofit/>
                    </a:bodyPr>
                    <a:lstStyle/>
                    <a:p>
                      <a:r>
                        <a:rPr sz="1800" b="0">
                          <a:solidFill>
                            <a:srgbClr val="222B2B"/>
                          </a:solidFill>
                          <a:latin typeface="Arial"/>
                          <a:ea typeface="Arial"/>
                          <a:cs typeface="Arial"/>
                        </a:rPr>
                        <a:t>Log loss</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0.0208</a:t>
                      </a:r>
                    </a:p>
                  </a:txBody>
                  <a:tcPr marL="91440" marR="91440" marT="45720" marB="45720">
                    <a:solidFill>
                      <a:srgbClr val="FFFFFF"/>
                    </a:solidFill>
                  </a:tcPr>
                </a:tc>
                <a:tc>
                  <a:txBody>
                    <a:bodyPr>
                      <a:noAutofit/>
                    </a:bodyPr>
                    <a:lstStyle/>
                    <a:p>
                      <a:r>
                        <a:rPr sz="1800" b="0">
                          <a:solidFill>
                            <a:srgbClr val="222B2B"/>
                          </a:solidFill>
                          <a:latin typeface="Arial"/>
                          <a:ea typeface="Arial"/>
                          <a:cs typeface="Arial"/>
                        </a:rPr>
                        <a:t>0.2811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2D62836-3492-4046-9502-8E8BCC4C88F0}"/>
              </a:ext>
            </a:extLst>
          </p:cNvPr>
          <p:cNvSpPr>
            <a:spLocks xmlns:a="http://schemas.openxmlformats.org/drawingml/2006/main" noGrp="1"/>
          </p:cNvSpPr>
          <p:nvPr/>
        </p:nvSpPr>
        <p:spPr>
          <a:xfrm xmlns:a="http://schemas.openxmlformats.org/drawingml/2006/main">
            <a:off x="666750" y="50101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3B33"/>
                </a:solidFill>
                <a:latin typeface="Arial"/>
                <a:ea typeface="Arial"/>
                <a:cs typeface="Arial"/>
              </a:defRPr>
            </a:pPr>
            <a:r>
              <a:rPr sz="2100" b="0">
                <a:solidFill>
                  <a:srgbClr val="203B33"/>
                </a:solidFill>
                <a:latin typeface="Arial"/>
                <a:ea typeface="Arial"/>
                <a:cs typeface="Arial"/>
              </a:rPr>
              <a:t>At a 20% threshold: 24 incidents detected, 1 missed, 0 false alarms.</a:t>
            </a:r>
          </a:p>
        </p:txBody>
      </p:sp>
      <p:sp>
        <p:nvSpPr>
          <p:cNvPr id="6" name="">
            <a:extLst xmlns:a="http://schemas.openxmlformats.org/drawingml/2006/main">
              <a:ext uri="{FF2B5EF4-FFF2-40B4-BE49-F238E27FC236}">
                <a16:creationId xmlns:a16="http://schemas.microsoft.com/office/drawing/2014/main" id="{15B0BE59-ECBB-487C-A356-E9024AB5E5BC}"/>
              </a:ext>
            </a:extLst>
          </p:cNvPr>
          <p:cNvSpPr>
            <a:spLocks xmlns:a="http://schemas.openxmlformats.org/drawingml/2006/main" noGrp="1"/>
          </p:cNvSpPr>
          <p:nvPr/>
        </p:nvSpPr>
        <p:spPr>
          <a:xfrm xmlns:a="http://schemas.openxmlformats.org/drawingml/2006/main">
            <a:off x="666750" y="5743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372"/>
                </a:solidFill>
                <a:latin typeface="Arial"/>
                <a:ea typeface="Arial"/>
                <a:cs typeface="Arial"/>
              </a:defRPr>
            </a:pPr>
            <a:r>
              <a:rPr sz="1725" b="0">
                <a:solidFill>
                  <a:srgbClr val="657372"/>
                </a:solidFill>
                <a:latin typeface="Arial"/>
                <a:ea typeface="Arial"/>
                <a:cs typeface="Arial"/>
              </a:rPr>
              <a:t>Synthetic data. The threshold is illustrative. Real shipment performance remains untested.</a:t>
            </a:r>
          </a:p>
        </p:txBody>
      </p:sp>
    </p:spTree>
    <p:extLst>
      <p:ext uri="{BB962C8B-B14F-4D97-AF65-F5344CB8AC3E}">
        <p14:creationId xmlns:p14="http://schemas.microsoft.com/office/powerpoint/2010/main" val="1720375433"/>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769F0C-161B-4AC6-A486-549B1ED5423D}"/>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Bounded history and safe model reload</a:t>
            </a:r>
          </a:p>
        </p:txBody>
      </p:sp>
      <p:sp>
        <p:nvSpPr>
          <p:cNvPr id="2" name="">
            <a:extLst xmlns:a="http://schemas.openxmlformats.org/drawingml/2006/main">
              <a:ext uri="{FF2B5EF4-FFF2-40B4-BE49-F238E27FC236}">
                <a16:creationId xmlns:a16="http://schemas.microsoft.com/office/drawing/2014/main" id="{A2A0F051-880D-4706-A04D-D23D41FA06CF}"/>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43E654B-A7FF-4BA0-B4F0-E9EB62DC2F69}"/>
              </a:ext>
            </a:extLst>
          </p:cNvPr>
          <p:cNvSpPr>
            <a:spLocks xmlns:a="http://schemas.openxmlformats.org/drawingml/2006/main" noGrp="1"/>
          </p:cNvSpPr>
          <p:nvPr/>
        </p:nvSpPr>
        <p:spPr>
          <a:xfrm xmlns:a="http://schemas.openxmlformats.org/drawingml/2006/main">
            <a:off x="666750" y="1714500"/>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203B33"/>
                </a:solidFill>
                <a:latin typeface="Georgia"/>
                <a:ea typeface="Georgia"/>
                <a:cs typeface="Georgia"/>
              </a:defRPr>
            </a:pPr>
            <a:r>
              <a:rPr sz="6000" b="0">
                <a:solidFill>
                  <a:srgbClr val="203B33"/>
                </a:solidFill>
                <a:latin typeface="Georgia"/>
                <a:ea typeface="Georgia"/>
                <a:cs typeface="Georgia"/>
              </a:rPr>
              <a:t>32</a:t>
            </a:r>
          </a:p>
        </p:txBody>
      </p:sp>
      <p:sp>
        <p:nvSpPr>
          <p:cNvPr id="4" name="">
            <a:extLst xmlns:a="http://schemas.openxmlformats.org/drawingml/2006/main">
              <a:ext uri="{FF2B5EF4-FFF2-40B4-BE49-F238E27FC236}">
                <a16:creationId xmlns:a16="http://schemas.microsoft.com/office/drawing/2014/main" id="{96C78D61-957A-4AA7-9A0B-0F809C946675}"/>
              </a:ext>
            </a:extLst>
          </p:cNvPr>
          <p:cNvSpPr>
            <a:spLocks xmlns:a="http://schemas.openxmlformats.org/drawingml/2006/main" noGrp="1"/>
          </p:cNvSpPr>
          <p:nvPr/>
        </p:nvSpPr>
        <p:spPr>
          <a:xfrm xmlns:a="http://schemas.openxmlformats.org/drawingml/2006/main">
            <a:off x="666750" y="29337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B2B"/>
                </a:solidFill>
                <a:latin typeface="Arial"/>
                <a:ea typeface="Arial"/>
                <a:cs typeface="Arial"/>
              </a:defRPr>
            </a:pPr>
            <a:r>
              <a:rPr sz="2025" b="0">
                <a:solidFill>
                  <a:srgbClr val="222B2B"/>
                </a:solidFill>
                <a:latin typeface="Arial"/>
                <a:ea typeface="Arial"/>
                <a:cs typeface="Arial"/>
              </a:rPr>
              <a:t>shipments in the capacity stress check</a:t>
            </a:r>
          </a:p>
        </p:txBody>
      </p:sp>
      <p:sp>
        <p:nvSpPr>
          <p:cNvPr id="5" name="">
            <a:extLst xmlns:a="http://schemas.openxmlformats.org/drawingml/2006/main">
              <a:ext uri="{FF2B5EF4-FFF2-40B4-BE49-F238E27FC236}">
                <a16:creationId xmlns:a16="http://schemas.microsoft.com/office/drawing/2014/main" id="{23F56EE3-0CBB-4B36-96E8-BF55EAC21961}"/>
              </a:ext>
            </a:extLst>
          </p:cNvPr>
          <p:cNvSpPr>
            <a:spLocks xmlns:a="http://schemas.openxmlformats.org/drawingml/2006/main" noGrp="1"/>
          </p:cNvSpPr>
          <p:nvPr/>
        </p:nvSpPr>
        <p:spPr>
          <a:xfrm xmlns:a="http://schemas.openxmlformats.org/drawingml/2006/main">
            <a:off x="6667500" y="1714500"/>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203B33"/>
                </a:solidFill>
                <a:latin typeface="Georgia"/>
                <a:ea typeface="Georgia"/>
                <a:cs typeface="Georgia"/>
              </a:defRPr>
            </a:pPr>
            <a:r>
              <a:rPr sz="6000" b="0">
                <a:solidFill>
                  <a:srgbClr val="203B33"/>
                </a:solidFill>
                <a:latin typeface="Georgia"/>
                <a:ea typeface="Georgia"/>
                <a:cs typeface="Georgia"/>
              </a:rPr>
              <a:t>128</a:t>
            </a:r>
          </a:p>
        </p:txBody>
      </p:sp>
      <p:sp>
        <p:nvSpPr>
          <p:cNvPr id="6" name="">
            <a:extLst xmlns:a="http://schemas.openxmlformats.org/drawingml/2006/main">
              <a:ext uri="{FF2B5EF4-FFF2-40B4-BE49-F238E27FC236}">
                <a16:creationId xmlns:a16="http://schemas.microsoft.com/office/drawing/2014/main" id="{773EA798-A38D-4FB4-AA52-2AF3B9D4A7C4}"/>
              </a:ext>
            </a:extLst>
          </p:cNvPr>
          <p:cNvSpPr>
            <a:spLocks xmlns:a="http://schemas.openxmlformats.org/drawingml/2006/main" noGrp="1"/>
          </p:cNvSpPr>
          <p:nvPr/>
        </p:nvSpPr>
        <p:spPr>
          <a:xfrm xmlns:a="http://schemas.openxmlformats.org/drawingml/2006/main">
            <a:off x="6667500" y="29337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B2B"/>
                </a:solidFill>
                <a:latin typeface="Arial"/>
                <a:ea typeface="Arial"/>
                <a:cs typeface="Arial"/>
              </a:defRPr>
            </a:pPr>
            <a:r>
              <a:rPr sz="2025" b="0">
                <a:solidFill>
                  <a:srgbClr val="222B2B"/>
                </a:solidFill>
                <a:latin typeface="Arial"/>
                <a:ea typeface="Arial"/>
                <a:cs typeface="Arial"/>
              </a:rPr>
              <a:t>revision records allowed per shipment</a:t>
            </a:r>
          </a:p>
        </p:txBody>
      </p:sp>
      <p:sp>
        <p:nvSpPr>
          <p:cNvPr id="7" name="">
            <a:extLst xmlns:a="http://schemas.openxmlformats.org/drawingml/2006/main">
              <a:ext uri="{FF2B5EF4-FFF2-40B4-BE49-F238E27FC236}">
                <a16:creationId xmlns:a16="http://schemas.microsoft.com/office/drawing/2014/main" id="{4B7FF35D-7900-42B5-8FD9-933F4EFB12A0}"/>
              </a:ext>
            </a:extLst>
          </p:cNvPr>
          <p:cNvSpPr>
            <a:spLocks xmlns:a="http://schemas.openxmlformats.org/drawingml/2006/main" noGrp="1"/>
          </p:cNvSpPr>
          <p:nvPr/>
        </p:nvSpPr>
        <p:spPr>
          <a:xfrm xmlns:a="http://schemas.openxmlformats.org/drawingml/2006/main">
            <a:off x="666750" y="40576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Identical replays produce identical prediction and snapshot bytes.</a:t>
            </a:r>
          </a:p>
        </p:txBody>
      </p:sp>
      <p:sp>
        <p:nvSpPr>
          <p:cNvPr id="8" name="">
            <a:extLst xmlns:a="http://schemas.openxmlformats.org/drawingml/2006/main">
              <a:ext uri="{FF2B5EF4-FFF2-40B4-BE49-F238E27FC236}">
                <a16:creationId xmlns:a16="http://schemas.microsoft.com/office/drawing/2014/main" id="{A08E4099-B152-4587-9F22-CF8866B06AC4}"/>
              </a:ext>
            </a:extLst>
          </p:cNvPr>
          <p:cNvSpPr>
            <a:spLocks xmlns:a="http://schemas.openxmlformats.org/drawingml/2006/main" noGrp="1"/>
          </p:cNvSpPr>
          <p:nvPr/>
        </p:nvSpPr>
        <p:spPr>
          <a:xfrm xmlns:a="http://schemas.openxmlformats.org/drawingml/2006/main">
            <a:off x="666750"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22B2B"/>
                </a:solidFill>
                <a:latin typeface="Arial"/>
                <a:ea typeface="Arial"/>
                <a:cs typeface="Arial"/>
              </a:defRPr>
            </a:pPr>
            <a:r>
              <a:rPr sz="2175" b="0">
                <a:solidFill>
                  <a:srgbClr val="222B2B"/>
                </a:solidFill>
                <a:latin typeface="Arial"/>
                <a:ea typeface="Arial"/>
                <a:cs typeface="Arial"/>
              </a:rPr>
              <a:t>A failed model reload leaves the previous model and telemetry intact.</a:t>
            </a:r>
          </a:p>
        </p:txBody>
      </p:sp>
      <p:sp>
        <p:nvSpPr>
          <p:cNvPr id="9" name="">
            <a:extLst xmlns:a="http://schemas.openxmlformats.org/drawingml/2006/main">
              <a:ext uri="{FF2B5EF4-FFF2-40B4-BE49-F238E27FC236}">
                <a16:creationId xmlns:a16="http://schemas.microsoft.com/office/drawing/2014/main" id="{4EF21834-830C-4987-8C3A-F7491D4B5A0A}"/>
              </a:ext>
            </a:extLst>
          </p:cNvPr>
          <p:cNvSpPr>
            <a:spLocks xmlns:a="http://schemas.openxmlformats.org/drawingml/2006/main" noGrp="1"/>
          </p:cNvSpPr>
          <p:nvPr/>
        </p:nvSpPr>
        <p:spPr>
          <a:xfrm xmlns:a="http://schemas.openxmlformats.org/drawingml/2006/main">
            <a:off x="666750" y="55626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372"/>
                </a:solidFill>
                <a:latin typeface="Arial"/>
                <a:ea typeface="Arial"/>
                <a:cs typeface="Arial"/>
              </a:defRPr>
            </a:pPr>
            <a:r>
              <a:rPr sz="1800" b="0">
                <a:solidFill>
                  <a:srgbClr val="657372"/>
                </a:solidFill>
                <a:latin typeface="Arial"/>
                <a:ea typeface="Arial"/>
                <a:cs typeface="Arial"/>
              </a:rPr>
              <a:t>Discarded history limits reconstruction. The prediction exposes that limitation.</a:t>
            </a:r>
          </a:p>
        </p:txBody>
      </p:sp>
    </p:spTree>
    <p:extLst>
      <p:ext uri="{BB962C8B-B14F-4D97-AF65-F5344CB8AC3E}">
        <p14:creationId xmlns:p14="http://schemas.microsoft.com/office/powerpoint/2010/main" val="1132173460"/>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CD4BB1-0F7D-4A81-A46D-4A9A20C0F790}"/>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03B33"/>
                </a:solidFill>
                <a:latin typeface="Georgia"/>
                <a:ea typeface="Georgia"/>
                <a:cs typeface="Georgia"/>
              </a:defRPr>
            </a:pPr>
            <a:r>
              <a:rPr sz="3600" b="0">
                <a:solidFill>
                  <a:srgbClr val="203B33"/>
                </a:solidFill>
                <a:latin typeface="Georgia"/>
                <a:ea typeface="Georgia"/>
                <a:cs typeface="Georgia"/>
              </a:rPr>
              <a:t>The remaining engineering priorities</a:t>
            </a:r>
          </a:p>
        </p:txBody>
      </p:sp>
      <p:sp>
        <p:nvSpPr>
          <p:cNvPr id="2" name="">
            <a:extLst xmlns:a="http://schemas.openxmlformats.org/drawingml/2006/main">
              <a:ext uri="{FF2B5EF4-FFF2-40B4-BE49-F238E27FC236}">
                <a16:creationId xmlns:a16="http://schemas.microsoft.com/office/drawing/2014/main" id="{A7636F46-D2AC-4DC5-888E-BB8EFF6F4F28}"/>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372"/>
                </a:solidFill>
                <a:latin typeface="Arial"/>
                <a:ea typeface="Arial"/>
                <a:cs typeface="Arial"/>
              </a:defRPr>
            </a:pPr>
            <a:r>
              <a:rPr sz="1200" b="0">
                <a:solidFill>
                  <a:srgbClr val="65737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AF93186-B8C4-4275-A956-7D5E14096937}"/>
              </a:ext>
            </a:extLst>
          </p:cNvPr>
          <p:cNvSpPr>
            <a:spLocks xmlns:a="http://schemas.openxmlformats.org/drawingml/2006/main" noGrp="1"/>
          </p:cNvSpPr>
          <p:nvPr/>
        </p:nvSpPr>
        <p:spPr>
          <a:xfrm xmlns:a="http://schemas.openxmlformats.org/drawingml/2006/main">
            <a:off x="666750" y="17907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B33"/>
                </a:solidFill>
                <a:latin typeface="Georgia"/>
                <a:ea typeface="Georgia"/>
                <a:cs typeface="Georgia"/>
              </a:defRPr>
            </a:pPr>
            <a:r>
              <a:rPr sz="2325" b="0">
                <a:solidFill>
                  <a:srgbClr val="203B33"/>
                </a:solidFill>
                <a:latin typeface="Georgia"/>
                <a:ea typeface="Georgia"/>
                <a:cs typeface="Georgia"/>
              </a:rPr>
              <a:t>Before submission</a:t>
            </a:r>
          </a:p>
        </p:txBody>
      </p:sp>
      <p:sp>
        <p:nvSpPr>
          <p:cNvPr id="4" name="">
            <a:extLst xmlns:a="http://schemas.openxmlformats.org/drawingml/2006/main">
              <a:ext uri="{FF2B5EF4-FFF2-40B4-BE49-F238E27FC236}">
                <a16:creationId xmlns:a16="http://schemas.microsoft.com/office/drawing/2014/main" id="{79FE328F-B52E-45E1-B1E8-F4ACBB150D7C}"/>
              </a:ext>
            </a:extLst>
          </p:cNvPr>
          <p:cNvSpPr>
            <a:spLocks xmlns:a="http://schemas.openxmlformats.org/drawingml/2006/main" noGrp="1"/>
          </p:cNvSpPr>
          <p:nvPr/>
        </p:nvSpPr>
        <p:spPr>
          <a:xfrm xmlns:a="http://schemas.openxmlformats.org/drawingml/2006/main">
            <a:off x="4381500" y="1790700"/>
            <a:ext cx="685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B2B"/>
                </a:solidFill>
                <a:latin typeface="Arial"/>
                <a:ea typeface="Arial"/>
                <a:cs typeface="Arial"/>
              </a:defRPr>
            </a:pPr>
            <a:r>
              <a:rPr sz="2025" b="0">
                <a:solidFill>
                  <a:srgbClr val="222B2B"/>
                </a:solidFill>
                <a:latin typeface="Arial"/>
                <a:ea typeface="Arial"/>
                <a:cs typeface="Arial"/>
              </a:rPr>
              <a:t>Resolve or explicitly defend omitted immature rows. The README requests a row at every decision time.</a:t>
            </a:r>
          </a:p>
        </p:txBody>
      </p:sp>
      <p:sp>
        <p:nvSpPr>
          <p:cNvPr id="5" name="">
            <a:extLst xmlns:a="http://schemas.openxmlformats.org/drawingml/2006/main">
              <a:ext uri="{FF2B5EF4-FFF2-40B4-BE49-F238E27FC236}">
                <a16:creationId xmlns:a16="http://schemas.microsoft.com/office/drawing/2014/main" id="{C91D19A0-D005-49A0-9ABC-2B3C243BB318}"/>
              </a:ext>
            </a:extLst>
          </p:cNvPr>
          <p:cNvSpPr>
            <a:spLocks xmlns:a="http://schemas.openxmlformats.org/drawingml/2006/main" noGrp="1"/>
          </p:cNvSpPr>
          <p:nvPr/>
        </p:nvSpPr>
        <p:spPr>
          <a:xfrm xmlns:a="http://schemas.openxmlformats.org/drawingml/2006/main">
            <a:off x="666750" y="32289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B33"/>
                </a:solidFill>
                <a:latin typeface="Georgia"/>
                <a:ea typeface="Georgia"/>
                <a:cs typeface="Georgia"/>
              </a:defRPr>
            </a:pPr>
            <a:r>
              <a:rPr sz="2325" b="0">
                <a:solidFill>
                  <a:srgbClr val="203B33"/>
                </a:solidFill>
                <a:latin typeface="Georgia"/>
                <a:ea typeface="Georgia"/>
                <a:cs typeface="Georgia"/>
              </a:rPr>
              <a:t>Before scaling</a:t>
            </a:r>
          </a:p>
        </p:txBody>
      </p:sp>
      <p:sp>
        <p:nvSpPr>
          <p:cNvPr id="6" name="">
            <a:extLst xmlns:a="http://schemas.openxmlformats.org/drawingml/2006/main">
              <a:ext uri="{FF2B5EF4-FFF2-40B4-BE49-F238E27FC236}">
                <a16:creationId xmlns:a16="http://schemas.microsoft.com/office/drawing/2014/main" id="{F4E71EA4-7C3F-4E21-A2A5-CE001D245F4B}"/>
              </a:ext>
            </a:extLst>
          </p:cNvPr>
          <p:cNvSpPr>
            <a:spLocks xmlns:a="http://schemas.openxmlformats.org/drawingml/2006/main" noGrp="1"/>
          </p:cNvSpPr>
          <p:nvPr/>
        </p:nvSpPr>
        <p:spPr>
          <a:xfrm xmlns:a="http://schemas.openxmlformats.org/drawingml/2006/main">
            <a:off x="4381500" y="3228975"/>
            <a:ext cx="685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B2B"/>
                </a:solidFill>
                <a:latin typeface="Arial"/>
                <a:ea typeface="Arial"/>
                <a:cs typeface="Arial"/>
              </a:defRPr>
            </a:pPr>
            <a:r>
              <a:rPr sz="2025" b="0">
                <a:solidFill>
                  <a:srgbClr val="222B2B"/>
                </a:solidFill>
                <a:latin typeface="Arial"/>
                <a:ea typeface="Arial"/>
                <a:cs typeface="Arial"/>
              </a:rPr>
              <a:t>Measure process memory and scoring latency under load. Bound snapshot input size and test the minimum Python version.</a:t>
            </a:r>
          </a:p>
        </p:txBody>
      </p:sp>
      <p:sp>
        <p:nvSpPr>
          <p:cNvPr id="7" name="">
            <a:extLst xmlns:a="http://schemas.openxmlformats.org/drawingml/2006/main">
              <a:ext uri="{FF2B5EF4-FFF2-40B4-BE49-F238E27FC236}">
                <a16:creationId xmlns:a16="http://schemas.microsoft.com/office/drawing/2014/main" id="{0130A4E0-E583-439C-8562-F5CFD921CDA4}"/>
              </a:ext>
            </a:extLst>
          </p:cNvPr>
          <p:cNvSpPr>
            <a:spLocks xmlns:a="http://schemas.openxmlformats.org/drawingml/2006/main" noGrp="1"/>
          </p:cNvSpPr>
          <p:nvPr/>
        </p:nvSpPr>
        <p:spPr>
          <a:xfrm xmlns:a="http://schemas.openxmlformats.org/drawingml/2006/main">
            <a:off x="666750" y="48577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B33"/>
                </a:solidFill>
                <a:latin typeface="Georgia"/>
                <a:ea typeface="Georgia"/>
                <a:cs typeface="Georgia"/>
              </a:defRPr>
            </a:pPr>
            <a:r>
              <a:rPr sz="2325" b="0">
                <a:solidFill>
                  <a:srgbClr val="203B33"/>
                </a:solidFill>
                <a:latin typeface="Georgia"/>
                <a:ea typeface="Georgia"/>
                <a:cs typeface="Georgia"/>
              </a:rPr>
              <a:t>Before real use</a:t>
            </a:r>
          </a:p>
        </p:txBody>
      </p:sp>
      <p:sp>
        <p:nvSpPr>
          <p:cNvPr id="8" name="">
            <a:extLst xmlns:a="http://schemas.openxmlformats.org/drawingml/2006/main">
              <a:ext uri="{FF2B5EF4-FFF2-40B4-BE49-F238E27FC236}">
                <a16:creationId xmlns:a16="http://schemas.microsoft.com/office/drawing/2014/main" id="{A72097FF-7DEF-49CC-8D21-8733CDE3B409}"/>
              </a:ext>
            </a:extLst>
          </p:cNvPr>
          <p:cNvSpPr>
            <a:spLocks xmlns:a="http://schemas.openxmlformats.org/drawingml/2006/main" noGrp="1"/>
          </p:cNvSpPr>
          <p:nvPr/>
        </p:nvSpPr>
        <p:spPr>
          <a:xfrm xmlns:a="http://schemas.openxmlformats.org/drawingml/2006/main">
            <a:off x="4381500" y="4857750"/>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B2B"/>
                </a:solidFill>
                <a:latin typeface="Arial"/>
                <a:ea typeface="Arial"/>
                <a:cs typeface="Arial"/>
              </a:defRPr>
            </a:pPr>
            <a:r>
              <a:rPr sz="2025" b="0">
                <a:solidFill>
                  <a:srgbClr val="222B2B"/>
                </a:solidFill>
                <a:latin typeface="Arial"/>
                <a:ea typeface="Arial"/>
                <a:cs typeface="Arial"/>
              </a:rPr>
              <a:t>Confirm outcome coverage, validate on real shipments and set alert thresholds from operational costs.</a:t>
            </a:r>
          </a:p>
        </p:txBody>
      </p:sp>
    </p:spTree>
    <p:extLst>
      <p:ext uri="{BB962C8B-B14F-4D97-AF65-F5344CB8AC3E}">
        <p14:creationId xmlns:p14="http://schemas.microsoft.com/office/powerpoint/2010/main" val="1141355715"/>
      </p:ext>
    </p:extLst>
  </p:cSld>
</p:sld>
</file>

<file path=ppt/slides/slide9.xml><?xml version="1.0" encoding="utf-8"?>
<p:sld xmlns:p="http://schemas.openxmlformats.org/presentationml/2006/main">
  <p:cSld>
    <p:bg>
      <p:bgPr>
        <a:solidFill xmlns:a="http://schemas.openxmlformats.org/drawingml/2006/main">
          <a:srgbClr val="203B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46E90D-4D2E-45CE-9B5D-D6558C26B281}"/>
              </a:ext>
            </a:extLst>
          </p:cNvPr>
          <p:cNvSpPr>
            <a:spLocks xmlns:a="http://schemas.openxmlformats.org/drawingml/2006/main" noGrp="1"/>
          </p:cNvSpPr>
          <p:nvPr/>
        </p:nvSpPr>
        <p:spPr>
          <a:xfrm xmlns:a="http://schemas.openxmlformats.org/drawingml/2006/main">
            <a:off x="666750" y="47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FFFFF"/>
                </a:solidFill>
                <a:latin typeface="Georgia"/>
                <a:ea typeface="Georgia"/>
                <a:cs typeface="Georgia"/>
              </a:defRPr>
            </a:pPr>
            <a:r>
              <a:rPr sz="3600" b="0">
                <a:solidFill>
                  <a:srgbClr val="FFFFFF"/>
                </a:solidFill>
                <a:latin typeface="Georgia"/>
                <a:ea typeface="Georgia"/>
                <a:cs typeface="Georgia"/>
              </a:rPr>
              <a:t>The live walkthrough makes each decision visible</a:t>
            </a:r>
          </a:p>
        </p:txBody>
      </p:sp>
      <p:sp>
        <p:nvSpPr>
          <p:cNvPr id="2" name="">
            <a:extLst xmlns:a="http://schemas.openxmlformats.org/drawingml/2006/main">
              <a:ext uri="{FF2B5EF4-FFF2-40B4-BE49-F238E27FC236}">
                <a16:creationId xmlns:a16="http://schemas.microsoft.com/office/drawing/2014/main" id="{079EA0EB-8B58-43F4-91BE-C026DF4CF6C8}"/>
              </a:ext>
            </a:extLst>
          </p:cNvPr>
          <p:cNvSpPr>
            <a:spLocks xmlns:a="http://schemas.openxmlformats.org/drawingml/2006/main" noGrp="1"/>
          </p:cNvSpPr>
          <p:nvPr/>
        </p:nvSpPr>
        <p:spPr>
          <a:xfrm xmlns:a="http://schemas.openxmlformats.org/drawingml/2006/main">
            <a:off x="1104900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AEB9C"/>
                </a:solidFill>
                <a:latin typeface="Arial"/>
                <a:ea typeface="Arial"/>
                <a:cs typeface="Arial"/>
              </a:defRPr>
            </a:pPr>
            <a:r>
              <a:rPr sz="1200" b="0">
                <a:solidFill>
                  <a:srgbClr val="DAEB9C"/>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C560C56-92BD-478C-9A58-AF79E282A512}"/>
              </a:ext>
            </a:extLst>
          </p:cNvPr>
          <p:cNvSpPr>
            <a:spLocks xmlns:a="http://schemas.openxmlformats.org/drawingml/2006/main" noGrp="1"/>
          </p:cNvSpPr>
          <p:nvPr/>
        </p:nvSpPr>
        <p:spPr>
          <a:xfrm xmlns:a="http://schemas.openxmlformats.org/drawingml/2006/main">
            <a:off x="723900" y="18669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1  Inspect the 8°C reading at 11 AM</a:t>
            </a:r>
          </a:p>
        </p:txBody>
      </p:sp>
      <p:sp>
        <p:nvSpPr>
          <p:cNvPr id="4" name="">
            <a:extLst xmlns:a="http://schemas.openxmlformats.org/drawingml/2006/main">
              <a:ext uri="{FF2B5EF4-FFF2-40B4-BE49-F238E27FC236}">
                <a16:creationId xmlns:a16="http://schemas.microsoft.com/office/drawing/2014/main" id="{B756F3F2-0238-41BA-A3B3-D743FE612C93}"/>
              </a:ext>
            </a:extLst>
          </p:cNvPr>
          <p:cNvSpPr>
            <a:spLocks xmlns:a="http://schemas.openxmlformats.org/drawingml/2006/main" noGrp="1"/>
          </p:cNvSpPr>
          <p:nvPr/>
        </p:nvSpPr>
        <p:spPr>
          <a:xfrm xmlns:a="http://schemas.openxmlformats.org/drawingml/2006/main">
            <a:off x="723900" y="26384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2  Deliver the duplicate and noon correction</a:t>
            </a:r>
          </a:p>
        </p:txBody>
      </p:sp>
      <p:sp>
        <p:nvSpPr>
          <p:cNvPr id="5" name="">
            <a:extLst xmlns:a="http://schemas.openxmlformats.org/drawingml/2006/main">
              <a:ext uri="{FF2B5EF4-FFF2-40B4-BE49-F238E27FC236}">
                <a16:creationId xmlns:a16="http://schemas.microsoft.com/office/drawing/2014/main" id="{D80F00A9-5706-4194-A474-FA40354F36B5}"/>
              </a:ext>
            </a:extLst>
          </p:cNvPr>
          <p:cNvSpPr>
            <a:spLocks xmlns:a="http://schemas.openxmlformats.org/drawingml/2006/main" noGrp="1"/>
          </p:cNvSpPr>
          <p:nvPr/>
        </p:nvSpPr>
        <p:spPr>
          <a:xfrm xmlns:a="http://schemas.openxmlformats.org/drawingml/2006/main">
            <a:off x="723900" y="34099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3  Compare the 11 AM and noon predictions</a:t>
            </a:r>
          </a:p>
        </p:txBody>
      </p:sp>
      <p:sp>
        <p:nvSpPr>
          <p:cNvPr id="6" name="">
            <a:extLst xmlns:a="http://schemas.openxmlformats.org/drawingml/2006/main">
              <a:ext uri="{FF2B5EF4-FFF2-40B4-BE49-F238E27FC236}">
                <a16:creationId xmlns:a16="http://schemas.microsoft.com/office/drawing/2014/main" id="{95F8B585-C9C4-4ACE-8E7A-A881C7BBFF8B}"/>
              </a:ext>
            </a:extLst>
          </p:cNvPr>
          <p:cNvSpPr>
            <a:spLocks xmlns:a="http://schemas.openxmlformats.org/drawingml/2006/main" noGrp="1"/>
          </p:cNvSpPr>
          <p:nvPr/>
        </p:nvSpPr>
        <p:spPr>
          <a:xfrm xmlns:a="http://schemas.openxmlformats.org/drawingml/2006/main">
            <a:off x="723900" y="4181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4  Demonstrate eviction, restore and failed reload</a:t>
            </a:r>
          </a:p>
        </p:txBody>
      </p:sp>
      <p:sp>
        <p:nvSpPr>
          <p:cNvPr id="7" name="">
            <a:extLst xmlns:a="http://schemas.openxmlformats.org/drawingml/2006/main">
              <a:ext uri="{FF2B5EF4-FFF2-40B4-BE49-F238E27FC236}">
                <a16:creationId xmlns:a16="http://schemas.microsoft.com/office/drawing/2014/main" id="{091499D2-C47F-44EF-9B92-A216D587F5E5}"/>
              </a:ext>
            </a:extLst>
          </p:cNvPr>
          <p:cNvSpPr>
            <a:spLocks xmlns:a="http://schemas.openxmlformats.org/drawingml/2006/main" noGrp="1"/>
          </p:cNvSpPr>
          <p:nvPr/>
        </p:nvSpPr>
        <p:spPr>
          <a:xfrm xmlns:a="http://schemas.openxmlformats.org/drawingml/2006/main">
            <a:off x="723900" y="53911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DAEB9C"/>
                </a:solidFill>
                <a:latin typeface="Arial"/>
                <a:ea typeface="Arial"/>
                <a:cs typeface="Arial"/>
              </a:defRPr>
            </a:pPr>
            <a:r>
              <a:rPr sz="2475" b="0">
                <a:solidFill>
                  <a:srgbClr val="DAEB9C"/>
                </a:solidFill>
                <a:latin typeface="Arial"/>
                <a:ea typeface="Arial"/>
                <a:cs typeface="Arial"/>
              </a:rPr>
              <a:t>http://127.0.0.1:8765</a:t>
            </a:r>
          </a:p>
        </p:txBody>
      </p:sp>
    </p:spTree>
    <p:extLst>
      <p:ext uri="{BB962C8B-B14F-4D97-AF65-F5344CB8AC3E}">
        <p14:creationId xmlns:p14="http://schemas.microsoft.com/office/powerpoint/2010/main" val="332376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2026-09-12T05:56:42.0440000Z</dcterms:created>
  <dcterms:modified xsi:type="dcterms:W3CDTF">2026-09-12T05:56:42.0440000Z</dcterms:modified>
</coreProperties>
</file>